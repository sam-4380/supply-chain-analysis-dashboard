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87" r:id="rId6"/>
    <p:sldId id="286" r:id="rId7"/>
    <p:sldId id="288" r:id="rId8"/>
    <p:sldId id="260" r:id="rId9"/>
    <p:sldId id="275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2" r:id="rId18"/>
    <p:sldId id="277" r:id="rId19"/>
    <p:sldId id="278" r:id="rId20"/>
    <p:sldId id="279" r:id="rId21"/>
    <p:sldId id="280" r:id="rId22"/>
    <p:sldId id="281" r:id="rId23"/>
    <p:sldId id="274" r:id="rId24"/>
    <p:sldId id="283" r:id="rId25"/>
    <p:sldId id="284" r:id="rId26"/>
    <p:sldId id="269" r:id="rId27"/>
    <p:sldId id="27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9BAEB-B399-43F4-B213-37E082A4F59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0B413-9A17-4012-8FDF-C99DCC3F3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18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0B413-9A17-4012-8FDF-C99DCC3F364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933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0B413-9A17-4012-8FDF-C99DCC3F364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88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0B413-9A17-4012-8FDF-C99DCC3F3648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168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9ABA-4007-4AFD-8ADD-BED1D841D9A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26DF-D145-4A10-82FC-9D222BE0087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411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9ABA-4007-4AFD-8ADD-BED1D841D9A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26DF-D145-4A10-82FC-9D222BE00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406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9ABA-4007-4AFD-8ADD-BED1D841D9A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26DF-D145-4A10-82FC-9D222BE00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335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9ABA-4007-4AFD-8ADD-BED1D841D9A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26DF-D145-4A10-82FC-9D222BE00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365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9ABA-4007-4AFD-8ADD-BED1D841D9A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26DF-D145-4A10-82FC-9D222BE00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609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9ABA-4007-4AFD-8ADD-BED1D841D9A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26DF-D145-4A10-82FC-9D222BE00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155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9ABA-4007-4AFD-8ADD-BED1D841D9A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26DF-D145-4A10-82FC-9D222BE00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973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9ABA-4007-4AFD-8ADD-BED1D841D9A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26DF-D145-4A10-82FC-9D222BE00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239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9ABA-4007-4AFD-8ADD-BED1D841D9A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26DF-D145-4A10-82FC-9D222BE00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736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9ABA-4007-4AFD-8ADD-BED1D841D9A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26DF-D145-4A10-82FC-9D222BE00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447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9ABA-4007-4AFD-8ADD-BED1D841D9A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26DF-D145-4A10-82FC-9D222BE00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1131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9ABA-4007-4AFD-8ADD-BED1D841D9A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26DF-D145-4A10-82FC-9D222BE0087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0606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9ABA-4007-4AFD-8ADD-BED1D841D9A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26DF-D145-4A10-82FC-9D222BE00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468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9ABA-4007-4AFD-8ADD-BED1D841D9A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26DF-D145-4A10-82FC-9D222BE0087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433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9ABA-4007-4AFD-8ADD-BED1D841D9A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26DF-D145-4A10-82FC-9D222BE00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5465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9ABA-4007-4AFD-8ADD-BED1D841D9A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26DF-D145-4A10-82FC-9D222BE00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48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9ABA-4007-4AFD-8ADD-BED1D841D9A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26DF-D145-4A10-82FC-9D222BE00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71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4B99ABA-4007-4AFD-8ADD-BED1D841D9A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0EB26DF-D145-4A10-82FC-9D222BE00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3520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E4EB4-C284-4F22-B616-2750C50F93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749809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>
                <a:latin typeface="Footlight MT Light" panose="0204060206030A020304" pitchFamily="18" charset="0"/>
              </a:rPr>
              <a:t>SUPPLY</a:t>
            </a:r>
            <a:r>
              <a:rPr lang="en-IN" sz="5400" b="1" dirty="0"/>
              <a:t> </a:t>
            </a:r>
            <a:r>
              <a:rPr lang="en-IN" sz="5400" b="1" dirty="0">
                <a:latin typeface="Footlight MT Light" panose="0204060206030A020304" pitchFamily="18" charset="0"/>
              </a:rPr>
              <a:t>CHAIN ANALYSIS</a:t>
            </a:r>
            <a:br>
              <a:rPr lang="en-IN" b="1" dirty="0">
                <a:latin typeface="Footlight MT Light" panose="0204060206030A020304" pitchFamily="18" charset="0"/>
              </a:rPr>
            </a:br>
            <a:r>
              <a:rPr lang="en-IN" sz="1600" b="1" dirty="0"/>
              <a:t>A Complete Diagnostic &amp; Comparison Report</a:t>
            </a:r>
            <a:endParaRPr lang="en-IN" sz="1600" b="1" dirty="0">
              <a:latin typeface="Footlight MT Light" panose="0204060206030A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FAB4BC-A1EC-7A3A-637B-488610E94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2920663"/>
            <a:ext cx="7663376" cy="194733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Name:: SAMIULLA NADAF</a:t>
            </a:r>
          </a:p>
          <a:p>
            <a:r>
              <a:rPr lang="en-US" b="1" dirty="0">
                <a:solidFill>
                  <a:schemeClr val="bg1"/>
                </a:solidFill>
              </a:rPr>
              <a:t>Batch id::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[19-JAN-26-CDA-BUN-040-WDM1130-BAN]</a:t>
            </a:r>
            <a:endParaRPr lang="en-US" altLang="en-US" b="1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</a:rPr>
              <a:t>Team id:: [PTID-CDA-MAY-26-11163]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34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C7B94-DB7C-4F2B-C5F4-D6AE61CEA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720" y="153077"/>
            <a:ext cx="9052560" cy="761323"/>
          </a:xfrm>
        </p:spPr>
        <p:txBody>
          <a:bodyPr>
            <a:noAutofit/>
          </a:bodyPr>
          <a:lstStyle/>
          <a:p>
            <a:pPr algn="ctr"/>
            <a:r>
              <a:rPr lang="en-US" sz="4800" dirty="0">
                <a:latin typeface="Footlight MT Light" panose="0204060206030A020304" pitchFamily="18" charset="0"/>
              </a:rPr>
              <a:t>Project  Objective</a:t>
            </a:r>
            <a:endParaRPr lang="en-IN" sz="4800" dirty="0">
              <a:latin typeface="Footlight MT Light" panose="0204060206030A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0E9B12-B73C-DEAC-D518-E5B9C12EDDC2}"/>
              </a:ext>
            </a:extLst>
          </p:cNvPr>
          <p:cNvSpPr txBox="1"/>
          <p:nvPr/>
        </p:nvSpPr>
        <p:spPr>
          <a:xfrm>
            <a:off x="1418844" y="1324158"/>
            <a:ext cx="93543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Analyse supply chain data across 23 attributes including products, suppliers, logistics and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 Build an interactive Power BI dashboard comparing supply chain performance for different product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Identify top-performing and underperforming suppliers using defect rates and lead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Evaluate logistics efficiency across shipping carriers, routes and transport modes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Track stock levels, production volumes and availability by product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Enable data-driven decision making for supply chain optimization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04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1C017-97C7-04EA-70AD-17E96CBB1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44518"/>
            <a:ext cx="8534400" cy="630553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latin typeface="Footlight MT Light" panose="0204060206030A020304" pitchFamily="18" charset="0"/>
              </a:rPr>
              <a:t>Tools &amp; Techniques Used</a:t>
            </a:r>
            <a:endParaRPr lang="en-IN" sz="4400" dirty="0">
              <a:latin typeface="Footlight MT Light" panose="0204060206030A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11EB79-356D-2963-138F-B9E5B2C8B583}"/>
              </a:ext>
            </a:extLst>
          </p:cNvPr>
          <p:cNvSpPr txBox="1"/>
          <p:nvPr/>
        </p:nvSpPr>
        <p:spPr>
          <a:xfrm>
            <a:off x="1512694" y="1592826"/>
            <a:ext cx="85344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Tools: Power BI Desktop | Power Query Editor | SQL Database | Microsoft PowerPoint</a:t>
            </a:r>
            <a:br>
              <a:rPr lang="en-IN" sz="2000" b="1" dirty="0">
                <a:solidFill>
                  <a:schemeClr val="bg1"/>
                </a:solidFill>
              </a:rPr>
            </a:br>
            <a:br>
              <a:rPr lang="en-IN" sz="2000" b="1" dirty="0">
                <a:solidFill>
                  <a:schemeClr val="bg1"/>
                </a:solidFill>
              </a:rPr>
            </a:br>
            <a:r>
              <a:rPr lang="en-IN" sz="2000" b="1" dirty="0">
                <a:solidFill>
                  <a:schemeClr val="bg1"/>
                </a:solidFill>
              </a:rPr>
              <a:t>Data Cleaning: Set correct data types for all 23 columns | Renamed Lead time columns (Customer vs Supplier) | Trimmed text columns | Added Stock Status calculated column | Added Profit Margin % column</a:t>
            </a:r>
            <a:br>
              <a:rPr lang="en-IN" sz="2000" b="1" dirty="0">
                <a:solidFill>
                  <a:schemeClr val="bg1"/>
                </a:solidFill>
              </a:rPr>
            </a:br>
            <a:br>
              <a:rPr lang="en-IN" sz="2000" b="1" dirty="0">
                <a:solidFill>
                  <a:schemeClr val="bg1"/>
                </a:solidFill>
              </a:rPr>
            </a:br>
            <a:r>
              <a:rPr lang="en-IN" sz="2000" b="1" dirty="0">
                <a:solidFill>
                  <a:schemeClr val="bg1"/>
                </a:solidFill>
              </a:rPr>
              <a:t>DAX Measures: Total Revenue | Total Units Sold | </a:t>
            </a:r>
            <a:r>
              <a:rPr lang="en-IN" sz="2000" b="1" dirty="0" err="1">
                <a:solidFill>
                  <a:schemeClr val="bg1"/>
                </a:solidFill>
              </a:rPr>
              <a:t>Avg</a:t>
            </a:r>
            <a:r>
              <a:rPr lang="en-IN" sz="2000" b="1" dirty="0">
                <a:solidFill>
                  <a:schemeClr val="bg1"/>
                </a:solidFill>
              </a:rPr>
              <a:t> Defect Rate | Pass Rate % | Revenue per Unit | </a:t>
            </a:r>
            <a:r>
              <a:rPr lang="en-IN" sz="2000" b="1" dirty="0" err="1">
                <a:solidFill>
                  <a:schemeClr val="bg1"/>
                </a:solidFill>
              </a:rPr>
              <a:t>Avg</a:t>
            </a:r>
            <a:r>
              <a:rPr lang="en-IN" sz="2000" b="1" dirty="0">
                <a:solidFill>
                  <a:schemeClr val="bg1"/>
                </a:solidFill>
              </a:rPr>
              <a:t> Stock Level | </a:t>
            </a:r>
            <a:r>
              <a:rPr lang="en-IN" sz="2000" b="1" dirty="0" err="1">
                <a:solidFill>
                  <a:schemeClr val="bg1"/>
                </a:solidFill>
              </a:rPr>
              <a:t>Avg</a:t>
            </a:r>
            <a:r>
              <a:rPr lang="en-IN" sz="2000" b="1" dirty="0">
                <a:solidFill>
                  <a:schemeClr val="bg1"/>
                </a:solidFill>
              </a:rPr>
              <a:t> Lead Time | </a:t>
            </a:r>
            <a:r>
              <a:rPr lang="en-IN" sz="2000" b="1" dirty="0" err="1">
                <a:solidFill>
                  <a:schemeClr val="bg1"/>
                </a:solidFill>
              </a:rPr>
              <a:t>Avg</a:t>
            </a:r>
            <a:r>
              <a:rPr lang="en-IN" sz="2000" b="1" dirty="0">
                <a:solidFill>
                  <a:schemeClr val="bg1"/>
                </a:solidFill>
              </a:rPr>
              <a:t> Price | Total </a:t>
            </a:r>
            <a:r>
              <a:rPr lang="en-IN" sz="2000" b="1" dirty="0" err="1">
                <a:solidFill>
                  <a:schemeClr val="bg1"/>
                </a:solidFill>
              </a:rPr>
              <a:t>Mfg</a:t>
            </a:r>
            <a:r>
              <a:rPr lang="en-IN" sz="2000" b="1" dirty="0">
                <a:solidFill>
                  <a:schemeClr val="bg1"/>
                </a:solidFill>
              </a:rPr>
              <a:t> Cost | Total Transport Cost</a:t>
            </a:r>
            <a:br>
              <a:rPr lang="en-IN" sz="2000" b="1" dirty="0">
                <a:solidFill>
                  <a:schemeClr val="bg1"/>
                </a:solidFill>
              </a:rPr>
            </a:br>
            <a:br>
              <a:rPr lang="en-IN" sz="2000" b="1" dirty="0">
                <a:solidFill>
                  <a:schemeClr val="bg1"/>
                </a:solidFill>
              </a:rPr>
            </a:br>
            <a:r>
              <a:rPr lang="en-IN" sz="2000" b="1" dirty="0">
                <a:solidFill>
                  <a:schemeClr val="bg1"/>
                </a:solidFill>
              </a:rPr>
              <a:t>Visualizations: KPI Cards, Bar, Column, Line, Scatter, Donut, Pie, Map, Table | 5 Synced Slicers | Conditional Formatting | Traffic Light </a:t>
            </a:r>
            <a:r>
              <a:rPr lang="en-IN" sz="2000" b="1" dirty="0" err="1">
                <a:solidFill>
                  <a:schemeClr val="bg1"/>
                </a:solidFill>
              </a:rPr>
              <a:t>Colors</a:t>
            </a:r>
            <a:endParaRPr lang="en-IN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379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11F3-51C3-2A13-624A-78C66C6F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173" y="342654"/>
            <a:ext cx="8534400" cy="42638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Footlight MT Light" panose="0204060206030A020304" pitchFamily="18" charset="0"/>
              </a:rPr>
              <a:t>Dashboards: </a:t>
            </a:r>
            <a:r>
              <a:rPr lang="en-IN" sz="3200" b="1" dirty="0">
                <a:latin typeface="Footlight MT Light" panose="0204060206030A020304" pitchFamily="18" charset="0"/>
              </a:rPr>
              <a:t>SUPPLY</a:t>
            </a:r>
            <a:r>
              <a:rPr lang="en-IN" sz="3200" b="1" dirty="0"/>
              <a:t> </a:t>
            </a:r>
            <a:r>
              <a:rPr lang="en-IN" sz="3200" b="1" dirty="0">
                <a:latin typeface="Footlight MT Light" panose="0204060206030A020304" pitchFamily="18" charset="0"/>
              </a:rPr>
              <a:t>CHAIN </a:t>
            </a:r>
            <a:r>
              <a:rPr lang="en-US" sz="3200" dirty="0">
                <a:latin typeface="Footlight MT Light" panose="0204060206030A020304" pitchFamily="18" charset="0"/>
              </a:rPr>
              <a:t>Analysis</a:t>
            </a:r>
            <a:endParaRPr lang="en-IN" sz="3200" dirty="0">
              <a:latin typeface="Footlight MT Light" panose="0204060206030A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FF01F-7F32-DB25-D695-2E95652AE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93057" y="855408"/>
            <a:ext cx="9458633" cy="56599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bg1"/>
                </a:solidFill>
              </a:rPr>
              <a:t>Page 1 — Executive Overview: 6 KPI Cards | Revenue by Product Type | Sales by Demographics | Revenue by Supplier Location (Map) | Order Quantity by Product Type | </a:t>
            </a:r>
            <a:r>
              <a:rPr lang="en-IN" sz="2400" b="1" dirty="0" err="1">
                <a:solidFill>
                  <a:schemeClr val="bg1"/>
                </a:solidFill>
              </a:rPr>
              <a:t>Avg</a:t>
            </a:r>
            <a:r>
              <a:rPr lang="en-IN" sz="2400" b="1" dirty="0">
                <a:solidFill>
                  <a:schemeClr val="bg1"/>
                </a:solidFill>
              </a:rPr>
              <a:t> Availability by Product Type | 3 Slicers</a:t>
            </a:r>
            <a:br>
              <a:rPr lang="en-IN" sz="2400" b="1" dirty="0">
                <a:solidFill>
                  <a:schemeClr val="bg1"/>
                </a:solidFill>
              </a:rPr>
            </a:br>
            <a:br>
              <a:rPr lang="en-IN" sz="2400" b="1" dirty="0">
                <a:solidFill>
                  <a:schemeClr val="bg1"/>
                </a:solidFill>
              </a:rPr>
            </a:br>
            <a:r>
              <a:rPr lang="en-IN" sz="2400" b="1" dirty="0">
                <a:solidFill>
                  <a:schemeClr val="bg1"/>
                </a:solidFill>
              </a:rPr>
              <a:t>Page 2 — Operations &amp; Logistics: Stock Level vs Lead Time | Shipping Cost by Carrier | Revenue vs Transport Cost | Revenue by Route | Stock Status Count | Shipping Times | Production Volume | 4 Slicers</a:t>
            </a:r>
            <a:br>
              <a:rPr lang="en-IN" sz="2400" b="1" dirty="0">
                <a:solidFill>
                  <a:schemeClr val="bg1"/>
                </a:solidFill>
              </a:rPr>
            </a:br>
            <a:br>
              <a:rPr lang="en-IN" sz="2400" b="1" dirty="0">
                <a:solidFill>
                  <a:schemeClr val="bg1"/>
                </a:solidFill>
              </a:rPr>
            </a:br>
            <a:r>
              <a:rPr lang="en-IN" sz="2400" b="1" dirty="0">
                <a:solidFill>
                  <a:schemeClr val="bg1"/>
                </a:solidFill>
              </a:rPr>
              <a:t>Page 3 — Quality &amp; Suppliers: Defect Rate vs </a:t>
            </a:r>
            <a:r>
              <a:rPr lang="en-IN" sz="2400" b="1" dirty="0" err="1">
                <a:solidFill>
                  <a:schemeClr val="bg1"/>
                </a:solidFill>
              </a:rPr>
              <a:t>Mfg</a:t>
            </a:r>
            <a:r>
              <a:rPr lang="en-IN" sz="2400" b="1" dirty="0">
                <a:solidFill>
                  <a:schemeClr val="bg1"/>
                </a:solidFill>
              </a:rPr>
              <a:t> Cost (Scatter) | Inspection Results (Pie) | Supplier Performance Table | </a:t>
            </a:r>
            <a:r>
              <a:rPr lang="en-IN" sz="2400" b="1" dirty="0" err="1">
                <a:solidFill>
                  <a:schemeClr val="bg1"/>
                </a:solidFill>
              </a:rPr>
              <a:t>Mfg</a:t>
            </a:r>
            <a:r>
              <a:rPr lang="en-IN" sz="2400" b="1" dirty="0">
                <a:solidFill>
                  <a:schemeClr val="bg1"/>
                </a:solidFill>
              </a:rPr>
              <a:t> Lead Time by Supplier | 4 Slicers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831722-FF1A-54DF-4914-3E79700C93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 rot="19948579" flipH="1" flipV="1">
            <a:off x="11236085" y="4900834"/>
            <a:ext cx="45719" cy="143114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5803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52D27-7503-05CC-58D4-E69BBCD96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6296C-341D-3FA0-1BC7-86B53FDDD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2" y="82481"/>
            <a:ext cx="8534400" cy="83191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Footlight MT Light" panose="0204060206030A020304" pitchFamily="18" charset="0"/>
              </a:rPr>
              <a:t>PAGE 1 EXECUTIVE OVERVIEW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AA30F4-6299-07AD-B714-B967FF67ABEF}"/>
              </a:ext>
            </a:extLst>
          </p:cNvPr>
          <p:cNvSpPr/>
          <p:nvPr/>
        </p:nvSpPr>
        <p:spPr>
          <a:xfrm>
            <a:off x="668593" y="1504335"/>
            <a:ext cx="4896465" cy="44258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BAE9C-BEDA-5B65-5C16-BD02ABA72401}"/>
              </a:ext>
            </a:extLst>
          </p:cNvPr>
          <p:cNvSpPr txBox="1"/>
          <p:nvPr/>
        </p:nvSpPr>
        <p:spPr>
          <a:xfrm>
            <a:off x="516195" y="4795897"/>
            <a:ext cx="611074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📊 6 KPI Cards — Revenue ₹577.60K, Units 46K, Defect Rate 2.28%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🛍️ Skincare leads revenue at ₹242K — highest product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👥 Unknown demographic is largest customer segment (33%)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🗺️ Suppliers spread across 5 Indian cities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📦 Skincare has highest order quantity — 2,099 units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🟢 Cosmetics has best availability at 51.23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64FC1-7592-745E-B632-FEF17FE14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95" y="760688"/>
            <a:ext cx="11410333" cy="392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330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24B3C-A571-A961-06D2-C2A36BAD7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F29E6-B96B-626F-143B-0BD075879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276" y="-114164"/>
            <a:ext cx="8534400" cy="83191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Footlight MT Light" panose="0204060206030A020304" pitchFamily="18" charset="0"/>
              </a:rPr>
              <a:t>Page 2 OPERATIONS &amp; LOGISTICS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3E8B92-72EA-1028-DBCF-A576ECFC08E8}"/>
              </a:ext>
            </a:extLst>
          </p:cNvPr>
          <p:cNvSpPr/>
          <p:nvPr/>
        </p:nvSpPr>
        <p:spPr>
          <a:xfrm>
            <a:off x="668593" y="1567481"/>
            <a:ext cx="4896465" cy="4362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1E23B-7ECB-6BEE-CD9B-B27E75CCA7A3}"/>
              </a:ext>
            </a:extLst>
          </p:cNvPr>
          <p:cNvSpPr txBox="1"/>
          <p:nvPr/>
        </p:nvSpPr>
        <p:spPr>
          <a:xfrm>
            <a:off x="255639" y="4549676"/>
            <a:ext cx="61107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📉 Stock levels healthy (55-100) but Lead Time highly variable (0-30 days)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🚚 Carrier B is cheapest (4.5) AND fastest (5.30 days) — best carrier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🛣️ Route A most profitable at ₹0.25M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🔴 27 SKUs at Low Stock — immediate reorder needed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🚂 Rail generates highest revenue ₹165K — most efficient transport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🏭 Skincare has highest production volume at 24K units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590867-60C2-E5DB-7E2D-DEFF7B0CB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39" y="639839"/>
            <a:ext cx="11680721" cy="390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62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679F8-59E3-D87B-E383-D62E8634A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94620-045B-CEEF-F6D7-7F30D7CE8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283" y="-114164"/>
            <a:ext cx="8534400" cy="83191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Footlight MT Light" panose="0204060206030A020304" pitchFamily="18" charset="0"/>
              </a:rPr>
              <a:t>PAGE 3 QUALITY &amp; SUPPLIERS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78D9DE-96BB-B3BF-9F46-21CE87B5D74C}"/>
              </a:ext>
            </a:extLst>
          </p:cNvPr>
          <p:cNvSpPr/>
          <p:nvPr/>
        </p:nvSpPr>
        <p:spPr>
          <a:xfrm>
            <a:off x="668593" y="1567481"/>
            <a:ext cx="4896465" cy="4362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DFD7C-A116-1397-6E0A-FE274C33B2B5}"/>
              </a:ext>
            </a:extLst>
          </p:cNvPr>
          <p:cNvSpPr txBox="1"/>
          <p:nvPr/>
        </p:nvSpPr>
        <p:spPr>
          <a:xfrm>
            <a:off x="184355" y="4549676"/>
            <a:ext cx="61107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⚠️ Only 23% items Pass inspection — critical quality issue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🔴 36% items Fail and 41% Pending — major QC backlog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✅ Supplier B best — lowest cost ₹45 and defect rate 1%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❌ Supplier C worst — highest cost ₹55 and defect rate 3%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📊 Skincare highest defect rate AND manufacturing cost — double risk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⏱️ Supplier 2 slowest lead time at 343 days — supply chain bottleneck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CA259D-3304-4DA3-C057-CB264A206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39" y="643649"/>
            <a:ext cx="11680722" cy="390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530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879A1-E442-63A9-D25F-03DCA5717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98797"/>
            <a:ext cx="8534400" cy="6241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Footlight MT Light" panose="0204060206030A020304" pitchFamily="18" charset="0"/>
              </a:rPr>
              <a:t>Key </a:t>
            </a:r>
            <a:r>
              <a:rPr lang="en-US" dirty="0" err="1">
                <a:latin typeface="Footlight MT Light" panose="0204060206030A020304" pitchFamily="18" charset="0"/>
              </a:rPr>
              <a:t>kpi</a:t>
            </a:r>
            <a:r>
              <a:rPr lang="en-US" dirty="0">
                <a:latin typeface="Footlight MT Light" panose="0204060206030A020304" pitchFamily="18" charset="0"/>
              </a:rPr>
              <a:t> From dashboard  </a:t>
            </a:r>
            <a:endParaRPr lang="en-IN" dirty="0">
              <a:latin typeface="Footlight MT Light" panose="0204060206030A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81421A-F532-F35B-9F67-9BB890FEB801}"/>
              </a:ext>
            </a:extLst>
          </p:cNvPr>
          <p:cNvSpPr txBox="1"/>
          <p:nvPr/>
        </p:nvSpPr>
        <p:spPr>
          <a:xfrm>
            <a:off x="1125647" y="3116343"/>
            <a:ext cx="74775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KEY KPIs FROM DASHBOARD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Total Revenue: ₹577.60K — overall supply chain revenue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Total Units Sold: 46K across all product types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000" b="1" dirty="0" err="1">
                <a:solidFill>
                  <a:schemeClr val="bg1"/>
                </a:solidFill>
              </a:rPr>
              <a:t>Avg</a:t>
            </a:r>
            <a:r>
              <a:rPr lang="en-IN" sz="2000" b="1" dirty="0">
                <a:solidFill>
                  <a:schemeClr val="bg1"/>
                </a:solidFill>
              </a:rPr>
              <a:t> Defect Rate: 2.28% — quality benchmark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Pass Rate %: 23% — only 23 out of 100 items pass QC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000" b="1" dirty="0" err="1">
                <a:solidFill>
                  <a:schemeClr val="bg1"/>
                </a:solidFill>
              </a:rPr>
              <a:t>Avg</a:t>
            </a:r>
            <a:r>
              <a:rPr lang="en-IN" sz="2000" b="1" dirty="0">
                <a:solidFill>
                  <a:schemeClr val="bg1"/>
                </a:solidFill>
              </a:rPr>
              <a:t> Price: ₹49.46 per unit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Revenue per Unit: ₹12.53 — efficiency metric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C21ABE-5C9F-BA80-024D-5529128E6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3" y="1042219"/>
            <a:ext cx="10874477" cy="131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007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01AAC-6EBF-FF8A-A6B3-D09DB6914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9D2DF-4CF9-9A8E-B202-CA1F3691D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98797"/>
            <a:ext cx="8534400" cy="6241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Footlight MT Light" panose="0204060206030A020304" pitchFamily="18" charset="0"/>
              </a:rPr>
              <a:t>SLICERS (INTERACTIVE FILTERS)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F99C8C-A153-640A-C768-51878112ACC5}"/>
              </a:ext>
            </a:extLst>
          </p:cNvPr>
          <p:cNvSpPr txBox="1"/>
          <p:nvPr/>
        </p:nvSpPr>
        <p:spPr>
          <a:xfrm>
            <a:off x="457985" y="2539556"/>
            <a:ext cx="824449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Filter by Product — filter all visuals by Skincare, Haircare or Cosmetics — synced across all 3 pages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Filter by City — filter by Mumbai, Delhi, Kolkata, Chennai, Bangalore — synced across all 3 pages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Filter by Supplier — filter by Supplier 1 to 5 — synced across all 3 pages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Filter by Transport Mode — Page 2 only — filter by Air, Road, Rail, Sea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Filter by Inspection Status — Page 3 only — filter by Pass, Fail, Pending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All 3 global slicers are synced — selecting one filter updates all 3 pages simultaneously!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82DCAA-A91A-B402-91E0-0B69A8E0E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6" y="822960"/>
            <a:ext cx="6681702" cy="11515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CC9039-84BB-DA69-36AA-8F67AF64C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018" y="822960"/>
            <a:ext cx="2324301" cy="11515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0DF43F-2212-A61B-B2E0-8C8627693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3319" y="822960"/>
            <a:ext cx="2596062" cy="115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30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F41E7-FA4C-C680-7886-9A941CCE5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89653"/>
            <a:ext cx="8534400" cy="715603"/>
          </a:xfrm>
        </p:spPr>
        <p:txBody>
          <a:bodyPr/>
          <a:lstStyle/>
          <a:p>
            <a:pPr algn="ctr"/>
            <a:r>
              <a:rPr lang="en-IN" b="1" dirty="0">
                <a:latin typeface="Footlight MT Light" panose="0204060206030A020304" pitchFamily="18" charset="0"/>
              </a:rPr>
              <a:t> TOTAL REVENUE BY PRODUCT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81FDD-66E7-1713-66BF-FA82C289EA32}"/>
              </a:ext>
            </a:extLst>
          </p:cNvPr>
          <p:cNvSpPr txBox="1"/>
          <p:nvPr/>
        </p:nvSpPr>
        <p:spPr>
          <a:xfrm>
            <a:off x="589936" y="1853265"/>
            <a:ext cx="55060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Skincare leads revenue at ₹242K — highest among all product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Haircare generates ₹174K — strong second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Cosmetics contributes ₹162K — close competition with Haircare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Skincare accounts for 42% of total revenue — primary revenue driver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Total revenue across all products: ₹577.60K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Focus marketing and production efforts on Skincare for maximum ROI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482E9D-4346-4200-8355-47D977476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595" y="1543665"/>
            <a:ext cx="4749617" cy="419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649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C1C51-9996-AFBB-C4B2-875CE3B0B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53661"/>
            <a:ext cx="8534400" cy="72474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Footlight MT Light" panose="0204060206030A020304" pitchFamily="18" charset="0"/>
              </a:rPr>
              <a:t>SALES BY CUSTOMER DEMOGRAPHICS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227DA5-1A3C-E173-A636-0F5290803B89}"/>
              </a:ext>
            </a:extLst>
          </p:cNvPr>
          <p:cNvSpPr txBox="1"/>
          <p:nvPr/>
        </p:nvSpPr>
        <p:spPr>
          <a:xfrm>
            <a:off x="216310" y="1570897"/>
            <a:ext cx="63123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Unknown demographic is the largest segment at 33% — customer data profiling needed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Male customers account for 27.77% — second largest buying segment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Non-Binary customers contribute 22.95% — significant segment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Female customers are 16.28% — lowest segment surprisingly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Implement CRM tracking to convert Unknown to known demographics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Target Male and Unknown segments for highest marketing impact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86103A-94BB-2F8E-8158-05C22A5AA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02244" y="1354394"/>
            <a:ext cx="5073446" cy="414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358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60E3-BB78-479E-A6DA-6816CBD44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53077"/>
            <a:ext cx="8534400" cy="816187"/>
          </a:xfrm>
        </p:spPr>
        <p:txBody>
          <a:bodyPr/>
          <a:lstStyle/>
          <a:p>
            <a:pPr algn="ctr"/>
            <a:r>
              <a:rPr lang="en-IN" b="1" dirty="0">
                <a:latin typeface="Footlight MT Light" panose="0204060206030A020304" pitchFamily="18" charset="0"/>
              </a:rPr>
              <a:t>REVENUE BY SUPPLIER LOCATION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CAB9D-D9CD-97FC-8A0B-7655572B4A7C}"/>
              </a:ext>
            </a:extLst>
          </p:cNvPr>
          <p:cNvSpPr txBox="1"/>
          <p:nvPr/>
        </p:nvSpPr>
        <p:spPr>
          <a:xfrm>
            <a:off x="412875" y="1536174"/>
            <a:ext cx="58700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Suppliers spread across 5 major Indian cities — Mumbai, Delhi, Kolkata, Chennai, Bangalore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Bubble size represents revenue — larger bubble means higher revenue from that location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Geographic diversification reduces single point supply chain failure risk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Mumbai and Southern cities show strong revenue contribution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Location-based filtering available through the City slicer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Expanding supplier network in high-revenue cities can boost performance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BA69A6-A4F3-2D45-3C1F-87C27010A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2967" y="1691149"/>
            <a:ext cx="5386157" cy="400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276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CA3E-F332-F11B-4D8C-82D601C89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20" y="134789"/>
            <a:ext cx="11109960" cy="80704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Footlight MT Light" panose="0204060206030A020304" pitchFamily="18" charset="0"/>
              </a:rPr>
              <a:t>ORDER QUANTITY BY PRODUCT TYPE</a:t>
            </a:r>
            <a:endParaRPr lang="en-IN" sz="2800" b="1" dirty="0">
              <a:latin typeface="Footlight MT Light" panose="0204060206030A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9E94F-B2A8-83B9-621C-7889A461068E}"/>
              </a:ext>
            </a:extLst>
          </p:cNvPr>
          <p:cNvSpPr txBox="1"/>
          <p:nvPr/>
        </p:nvSpPr>
        <p:spPr>
          <a:xfrm>
            <a:off x="325852" y="1690062"/>
            <a:ext cx="605356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dirty="0"/>
              <a:t> </a:t>
            </a:r>
            <a:r>
              <a:rPr lang="en-IN" sz="2000" b="1" dirty="0">
                <a:solidFill>
                  <a:schemeClr val="bg1"/>
                </a:solidFill>
              </a:rPr>
              <a:t>Skincare has highest order quantity at 2,099 units — strongest market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Haircare follows with 1,480 orders — consistent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Cosmetics has lowest orders at 1,343 — needs demand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Total orders across all products: 4,922 units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Order volume aligns with revenue — Skincare dominates both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Increase production capacity for Skincare to meet demand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2A00C7-58F6-7EAC-6242-CE0096D21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787" y="1286098"/>
            <a:ext cx="4854361" cy="406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11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BF700-77A7-41A2-F574-95D744DD6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71949"/>
            <a:ext cx="8534400" cy="59673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AVG AVAILABILITY BY PRODUCT TYPE</a:t>
            </a:r>
            <a:endParaRPr lang="en-IN" b="1" dirty="0">
              <a:latin typeface="Footlight MT Light" panose="0204060206030A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F131E-81B6-6EA0-C385-F96B46D4B432}"/>
              </a:ext>
            </a:extLst>
          </p:cNvPr>
          <p:cNvSpPr txBox="1"/>
          <p:nvPr/>
        </p:nvSpPr>
        <p:spPr>
          <a:xfrm>
            <a:off x="472708" y="1885725"/>
            <a:ext cx="58742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Cosmetics has highest availability at 51.23 — best stocked product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Skincare availability is 50.93 — adequate but demand is very high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Haircare has lowest availability at 43.26 — highest stockout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Haircare is at risk despite having 1,480 orders — restock urgently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Availability and order quantity must be balanced for each product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Monitor Haircare stock levels weekly to prevent supply gaps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C09D25-CB33-BEDA-F0B9-17542B033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440" y="1514168"/>
            <a:ext cx="5378244" cy="416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14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B0315-DA93-0FF4-A3EE-F4E1C841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71365"/>
            <a:ext cx="8534400" cy="79789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Footlight MT Light" panose="0204060206030A020304" pitchFamily="18" charset="0"/>
              </a:rPr>
              <a:t>STOCK LEVEL VS LEAD TIME BY SKU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4461D7-9609-7193-039F-05BCCF2FC61A}"/>
              </a:ext>
            </a:extLst>
          </p:cNvPr>
          <p:cNvSpPr txBox="1"/>
          <p:nvPr/>
        </p:nvSpPr>
        <p:spPr>
          <a:xfrm>
            <a:off x="311683" y="1689196"/>
            <a:ext cx="62660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Red line (</a:t>
            </a:r>
            <a:r>
              <a:rPr lang="en-IN" sz="2000" b="1" dirty="0" err="1">
                <a:solidFill>
                  <a:schemeClr val="bg1"/>
                </a:solidFill>
              </a:rPr>
              <a:t>Avg</a:t>
            </a:r>
            <a:r>
              <a:rPr lang="en-IN" sz="2000" b="1" dirty="0">
                <a:solidFill>
                  <a:schemeClr val="bg1"/>
                </a:solidFill>
              </a:rPr>
              <a:t> Lead Time) zigzags between 0-30 days — high variability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SKUs with high lead time and low stock are highest stockout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Stock levels gradually decrease across SKUs — restocking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Lead time fluctuations indicate supplier inconsistency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Blue line (</a:t>
            </a:r>
            <a:r>
              <a:rPr lang="en-IN" sz="2000" b="1" dirty="0" err="1">
                <a:solidFill>
                  <a:schemeClr val="bg1"/>
                </a:solidFill>
              </a:rPr>
              <a:t>Avg</a:t>
            </a:r>
            <a:r>
              <a:rPr lang="en-IN" sz="2000" b="1" dirty="0">
                <a:solidFill>
                  <a:schemeClr val="bg1"/>
                </a:solidFill>
              </a:rPr>
              <a:t> Stock Level) sits between 55-100 — generally healthy stock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Monitor SKUs where red line spikes and blue line dips simultaneously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F9395D-DF27-B268-291A-AEC395F83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465006"/>
            <a:ext cx="5174717" cy="392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86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1154B-9A64-8AB1-942D-99A16CDE2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98213"/>
            <a:ext cx="8534400" cy="76132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Footlight MT Light" panose="0204060206030A020304" pitchFamily="18" charset="0"/>
              </a:rPr>
              <a:t>AVG SHIPPING COST BY CARRIER &amp; PRODUCT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DEFACC-77BD-0C8F-923B-752962147C5F}"/>
              </a:ext>
            </a:extLst>
          </p:cNvPr>
          <p:cNvSpPr txBox="1"/>
          <p:nvPr/>
        </p:nvSpPr>
        <p:spPr>
          <a:xfrm>
            <a:off x="298262" y="1807891"/>
            <a:ext cx="661381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Carrier B has lowest </a:t>
            </a:r>
            <a:r>
              <a:rPr lang="en-IN" sz="2000" b="1" dirty="0" err="1">
                <a:solidFill>
                  <a:schemeClr val="bg1"/>
                </a:solidFill>
              </a:rPr>
              <a:t>avg</a:t>
            </a:r>
            <a:r>
              <a:rPr lang="en-IN" sz="2000" b="1" dirty="0">
                <a:solidFill>
                  <a:schemeClr val="bg1"/>
                </a:solidFill>
              </a:rPr>
              <a:t> shipping cost at 4.5 — most cost efficient carrier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Carrier C has highest cost at 6.6 — most expensive for Haircare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Skincare has highest shipping cost across all carriers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Cosmetics is cheapest to ship across all carriers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Recommend shifting Skincare shipments to Carrier B for cost saving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Carrier selection significantly impacts total logistics cost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A499AD-116C-917F-ABEB-59979E822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589" y="1487129"/>
            <a:ext cx="5240592" cy="388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42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C931D-DEA9-B5A6-2521-320C1D418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2" y="82481"/>
            <a:ext cx="8534400" cy="83191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Footlight MT Light" panose="0204060206030A020304" pitchFamily="18" charset="0"/>
              </a:rPr>
              <a:t>REVENUE VS TRANSPORT COST BY MODE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EE1E73-41AB-0C2A-E1FE-6CF473AC74B3}"/>
              </a:ext>
            </a:extLst>
          </p:cNvPr>
          <p:cNvSpPr/>
          <p:nvPr/>
        </p:nvSpPr>
        <p:spPr>
          <a:xfrm>
            <a:off x="668593" y="1567481"/>
            <a:ext cx="4896465" cy="4362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Rail generates highest revenue at ₹165K — most profitable transport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Road follows closely at ₹159K — consistent revenue performer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Air and Rail both generate ₹156K and ₹165K — strong performers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Sea has lowest revenue at ₹98K — least efficient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Transport costs are only ₹7K-₹16K vs revenue — excellent margin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Recommend expanding Rail and Road shipments for maximum ROI</a:t>
            </a:r>
            <a:endParaRPr lang="en-IN" sz="2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9EA53D-3B28-5675-8DE0-0E5AFF879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12" y="1567481"/>
            <a:ext cx="5838897" cy="416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464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2A0BC-3459-0628-9BA4-9E20A8665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AFB67-1565-6F2B-94EE-B0ED767A5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2" y="82481"/>
            <a:ext cx="8534400" cy="83191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Footlight MT Light" panose="0204060206030A020304" pitchFamily="18" charset="0"/>
              </a:rPr>
              <a:t>COUNT OF SKU BY STOCK STATUS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47E953-5429-4AD1-F730-68B4B48F295D}"/>
              </a:ext>
            </a:extLst>
          </p:cNvPr>
          <p:cNvSpPr/>
          <p:nvPr/>
        </p:nvSpPr>
        <p:spPr>
          <a:xfrm>
            <a:off x="668593" y="1567481"/>
            <a:ext cx="4896465" cy="4362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4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F7DA91-11F0-A169-B6D0-1155E7FBE15C}"/>
              </a:ext>
            </a:extLst>
          </p:cNvPr>
          <p:cNvSpPr txBox="1"/>
          <p:nvPr/>
        </p:nvSpPr>
        <p:spPr>
          <a:xfrm>
            <a:off x="292510" y="1859339"/>
            <a:ext cx="61107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1"/>
                </a:solidFill>
                <a:effectLst/>
                <a:latin typeface="Anthropic Sans"/>
              </a:rPr>
              <a:t>37 SKUs are at Adequate stock level — 37% of products are well stocked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1"/>
                </a:solidFill>
                <a:effectLst/>
                <a:latin typeface="Anthropic Sans"/>
              </a:rPr>
              <a:t>36 SKUs at Medium level — 36% need monitoring and restocking soon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1"/>
                </a:solidFill>
                <a:effectLst/>
                <a:latin typeface="Anthropic Sans"/>
              </a:rPr>
              <a:t>27 SKUs at Low Stock — 27% are at immediate risk of stockout!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1"/>
                </a:solidFill>
                <a:effectLst/>
                <a:latin typeface="Anthropic Sans"/>
              </a:rPr>
              <a:t>Red Low Stock SKUs need urgent reorder to prevent revenue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1"/>
                </a:solidFill>
                <a:effectLst/>
                <a:latin typeface="Anthropic Sans"/>
              </a:rPr>
              <a:t>Traffic light system enables instant stock health identification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1"/>
                </a:solidFill>
                <a:effectLst/>
                <a:latin typeface="Anthropic Sans"/>
              </a:rPr>
              <a:t>Implement automated reorder alerts for all Low Stock SKUs immediately</a:t>
            </a:r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90BB37-8E6F-01AF-C6D0-CEE2A98A1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693" y="1525275"/>
            <a:ext cx="4840647" cy="411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496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8952A-2640-2C75-F260-B540343F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8E431-FC16-F37B-A8B3-7AF9D822E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2" y="82481"/>
            <a:ext cx="8534400" cy="83191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Footlight MT Light" panose="0204060206030A020304" pitchFamily="18" charset="0"/>
              </a:rPr>
              <a:t>REVENUE BY SHIPPING ROUTE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4E43A9-C22E-E5E5-8C49-3D2842744DFD}"/>
              </a:ext>
            </a:extLst>
          </p:cNvPr>
          <p:cNvSpPr/>
          <p:nvPr/>
        </p:nvSpPr>
        <p:spPr>
          <a:xfrm>
            <a:off x="668593" y="1567481"/>
            <a:ext cx="4896465" cy="4362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Route A is the most profitable route generating ₹0.25M revenue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Route B follows at ₹0.20M — strong consistent performer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Route C generates only ₹0.12M — lowest revenue route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Route A generates 43% of total shipping revenue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Prioritize high-value shipments through Route 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Review Route C cost-effectiveness — consider switching to Route A or B</a:t>
            </a:r>
            <a:endParaRPr lang="en-IN" sz="2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AA5DA9-2EA7-D3D2-E759-3B3CA87CE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156" y="1567482"/>
            <a:ext cx="5498338" cy="385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839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13DF9-2829-639E-DC16-07764053A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B346B-B0DB-20CC-E119-C5D5B736D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2" y="82481"/>
            <a:ext cx="8534400" cy="831919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 </a:t>
            </a:r>
            <a:r>
              <a:rPr lang="en-IN" b="1" dirty="0">
                <a:latin typeface="Footlight MT Light" panose="0204060206030A020304" pitchFamily="18" charset="0"/>
              </a:rPr>
              <a:t>AVG SHIPPING TIMES BY CARRIER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124411-7DF3-0437-4DD0-D2207E3E0329}"/>
              </a:ext>
            </a:extLst>
          </p:cNvPr>
          <p:cNvSpPr/>
          <p:nvPr/>
        </p:nvSpPr>
        <p:spPr>
          <a:xfrm>
            <a:off x="668593" y="1567481"/>
            <a:ext cx="4896465" cy="4362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Carrier B is fastest with </a:t>
            </a:r>
            <a:r>
              <a:rPr lang="en-IN" sz="2000" b="1" dirty="0" err="1"/>
              <a:t>avg</a:t>
            </a:r>
            <a:r>
              <a:rPr lang="en-IN" sz="2000" b="1" dirty="0"/>
              <a:t> shipping time of 5.30 days — best for urgent orders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Carrier C follows at 6.03 days — moderate speed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Carrier A is slowest at 6.14 days despite being most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Speed difference between Carrier B and A is nearly 1 full 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Combine cost analysis: Carrier B is BOTH cheapest AND fastest — clear winner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Recommend switching majority of shipments to Carrier B</a:t>
            </a:r>
            <a:endParaRPr lang="en-IN" sz="2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BF0E04-81E3-8DC7-D006-5FB5EA90E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471" y="1769806"/>
            <a:ext cx="5289755" cy="390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715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A3CCB-FBAE-FFC4-A421-412E593DB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F7353-A002-B0B9-B8D9-442FAE44E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2" y="82481"/>
            <a:ext cx="8534400" cy="83191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Footlight MT Light" panose="0204060206030A020304" pitchFamily="18" charset="0"/>
              </a:rPr>
              <a:t>PRODUCTION VOLUME BY PRODUCT TYPE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41D396-6036-CBA3-943B-5DA4CAC6624F}"/>
              </a:ext>
            </a:extLst>
          </p:cNvPr>
          <p:cNvSpPr/>
          <p:nvPr/>
        </p:nvSpPr>
        <p:spPr>
          <a:xfrm>
            <a:off x="668593" y="1567481"/>
            <a:ext cx="4896465" cy="4362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AA5871-A24E-BD7B-3768-0B007308EFD7}"/>
              </a:ext>
            </a:extLst>
          </p:cNvPr>
          <p:cNvSpPr txBox="1"/>
          <p:nvPr/>
        </p:nvSpPr>
        <p:spPr>
          <a:xfrm>
            <a:off x="371168" y="1867896"/>
            <a:ext cx="61107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1E2A3A"/>
                </a:solidFill>
                <a:effectLst/>
                <a:latin typeface="Anthropic Sans"/>
              </a:rPr>
              <a:t>Skincare has highest production volume at 24K units — matches market demand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1E2A3A"/>
                </a:solidFill>
                <a:effectLst/>
                <a:latin typeface="Anthropic Sans"/>
              </a:rPr>
              <a:t>Haircare produces 20K units — adequate production for demand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1E2A3A"/>
                </a:solidFill>
                <a:effectLst/>
                <a:latin typeface="Anthropic Sans"/>
              </a:rPr>
              <a:t>Cosmetics has lowest production at 12K units — significant gap vs others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1E2A3A"/>
                </a:solidFill>
                <a:effectLst/>
                <a:latin typeface="Anthropic Sans"/>
              </a:rPr>
              <a:t>Production volumes align with revenue — Skincare leads both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1E2A3A"/>
                </a:solidFill>
                <a:effectLst/>
                <a:latin typeface="Anthropic Sans"/>
              </a:rPr>
              <a:t>Cosmetics gap between production and availability needs investigation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1E2A3A"/>
                </a:solidFill>
                <a:effectLst/>
                <a:latin typeface="Anthropic Sans"/>
              </a:rPr>
              <a:t>Consider increasing Cosmetics production to capture more market share</a:t>
            </a:r>
            <a:endParaRPr lang="en-IN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E13E4B-5F1D-929C-0BAA-D0B376FC6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151" y="1867896"/>
            <a:ext cx="5269210" cy="341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8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630BB-5250-D2A8-C196-26AB55480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7EBA4-5176-A5C7-29E1-41BB6BAA9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2" y="82481"/>
            <a:ext cx="8534400" cy="83191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DEFECT RATE VS MANUFACTURING COST</a:t>
            </a:r>
            <a:endParaRPr lang="en-IN" b="1" dirty="0">
              <a:latin typeface="Footlight MT Light" panose="0204060206030A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75F16-0022-0BEF-1AEE-4C049EE03BB7}"/>
              </a:ext>
            </a:extLst>
          </p:cNvPr>
          <p:cNvSpPr/>
          <p:nvPr/>
        </p:nvSpPr>
        <p:spPr>
          <a:xfrm>
            <a:off x="668593" y="1567481"/>
            <a:ext cx="4896465" cy="4362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4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6AA37B-5F22-EDC1-9BAA-3052017BECE8}"/>
              </a:ext>
            </a:extLst>
          </p:cNvPr>
          <p:cNvSpPr txBox="1"/>
          <p:nvPr/>
        </p:nvSpPr>
        <p:spPr>
          <a:xfrm>
            <a:off x="302342" y="1642321"/>
            <a:ext cx="611074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Skincare (red dot) has HIGHEST manufacturing cost (~₹2000) AND highest defect rate (~93) — double risk!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Haircare (green dot) has medium cost (~₹1600) and medium defect rate (~84)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Cosmetics (blue dot) has LOWEST cost (~₹1100) and lowest defect rate (~50) — best 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Higher manufacturing cost does NOT guarantee lower defects — Skincare proves this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Skincare manufacturing process needs immediate quality review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Cosmetics production process is the most cost-efficient and highest quality model to replicate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5F706D-E68B-B1CB-CE6D-838588D77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581" y="1642322"/>
            <a:ext cx="5476568" cy="470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7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210D2-F0FC-F077-3895-8E24A7AF6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00450-55EF-E889-0C7C-91781030A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2" y="82481"/>
            <a:ext cx="8534400" cy="831919"/>
          </a:xfrm>
        </p:spPr>
        <p:txBody>
          <a:bodyPr/>
          <a:lstStyle/>
          <a:p>
            <a:pPr algn="ctr"/>
            <a:r>
              <a:rPr lang="en-IN" b="1" dirty="0">
                <a:latin typeface="Footlight MT Light" panose="0204060206030A020304" pitchFamily="18" charset="0"/>
              </a:rPr>
              <a:t> INSPECTION RESULTS DISTRIBUTION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E6ECD5-B0E0-2B1A-53B7-2C37B7CC9AD6}"/>
              </a:ext>
            </a:extLst>
          </p:cNvPr>
          <p:cNvSpPr/>
          <p:nvPr/>
        </p:nvSpPr>
        <p:spPr>
          <a:xfrm>
            <a:off x="747250" y="1410928"/>
            <a:ext cx="5348750" cy="44687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Only 23% of items PASS inspection — critically low pass rate across all products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36% of items FAIL inspection — more than 1 in 3 items are defective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41% of items are PENDING inspection — massive QC backlog causing supply delays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Total failure + pending = 77% of items are NOT ready for delivery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QC bottleneck is the biggest risk to supply chain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Implement automated inspection process to clear the 41% pending backlog urgently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660405-0CA0-7237-E9B0-FCB2FCB6F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973" y="1410928"/>
            <a:ext cx="5681045" cy="413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199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16E8F-71D8-36CA-375D-C9EE0F583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628F3-3B1C-20C0-D36D-54A9B5073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2" y="82481"/>
            <a:ext cx="8534400" cy="83191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Footlight MT Light" panose="0204060206030A020304" pitchFamily="18" charset="0"/>
              </a:rPr>
              <a:t>SUPPLIER PERFORMANCE BENCHMARK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69184B-6FFF-B092-B738-9442A57C2CCC}"/>
              </a:ext>
            </a:extLst>
          </p:cNvPr>
          <p:cNvSpPr/>
          <p:nvPr/>
        </p:nvSpPr>
        <p:spPr>
          <a:xfrm>
            <a:off x="517062" y="1410928"/>
            <a:ext cx="5348750" cy="44687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640449-F7AD-A166-D558-C6AC72F20FE7}"/>
              </a:ext>
            </a:extLst>
          </p:cNvPr>
          <p:cNvSpPr txBox="1"/>
          <p:nvPr/>
        </p:nvSpPr>
        <p:spPr>
          <a:xfrm>
            <a:off x="136063" y="1720840"/>
            <a:ext cx="61107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1"/>
                </a:solidFill>
                <a:effectLst/>
                <a:latin typeface="Anthropic Sans"/>
              </a:rPr>
              <a:t>Supplier B is BEST — lowest cost ₹45/unit, 7 days lead time, only 1% defect rate (GREEN)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1"/>
                </a:solidFill>
                <a:effectLst/>
                <a:latin typeface="Anthropic Sans"/>
              </a:rPr>
              <a:t>Supplier A is MIDDLE — ₹50/unit, 5 days, 2% defect rate (AMBER)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1"/>
                </a:solidFill>
                <a:effectLst/>
                <a:latin typeface="Anthropic Sans"/>
              </a:rPr>
              <a:t>Supplier C is WORST — highest cost ₹55/unit, only 4 days but 3% defect rate (RED)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1"/>
                </a:solidFill>
                <a:effectLst/>
                <a:latin typeface="Anthropic Sans"/>
              </a:rPr>
              <a:t>Conditional formatting instantly shows supplier quality at a glance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1"/>
                </a:solidFill>
                <a:effectLst/>
                <a:latin typeface="Anthropic Sans"/>
              </a:rPr>
              <a:t>Increase procurement volume from Supplier B — best value and 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1"/>
                </a:solidFill>
                <a:effectLst/>
                <a:latin typeface="Anthropic Sans"/>
              </a:rPr>
              <a:t>Review and renegotiate Supplier C contract — not justifying higher cost</a:t>
            </a:r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5563CA-180B-7511-637F-5CDA103CC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811" y="1720840"/>
            <a:ext cx="5809126" cy="378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3439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14E48-03D9-6704-7209-1C41AC47E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A47D-A3FF-EB35-9D94-6F5C30036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2" y="82481"/>
            <a:ext cx="8534400" cy="83191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Footlight MT Light" panose="0204060206030A020304" pitchFamily="18" charset="0"/>
              </a:rPr>
              <a:t>AVG MANUFACTURING LEAD TIME BY SUPPLIER 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7D78DE-4B4D-603F-AF0A-2F7FC79677F9}"/>
              </a:ext>
            </a:extLst>
          </p:cNvPr>
          <p:cNvSpPr/>
          <p:nvPr/>
        </p:nvSpPr>
        <p:spPr>
          <a:xfrm>
            <a:off x="517062" y="1410928"/>
            <a:ext cx="5348750" cy="44687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Supplier 2 has longest manufacturing lead time at 343 days — biggest bottleneck!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Supplier 1 close behind at 340 days — both need urgent timeline negotiation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Supplier 3 is fastest at 224 days — 119 days faster than Supplier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Gap between fastest (224) and slowest (343) is 119 days — massive difference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Long lead times directly cause stock shortages and delayed deliveries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Negotiate stricter SLAs with Supplier 1 and 2 to reduce lead times below 250 days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2EC9E6-0F74-B38F-16FD-EA2D8F94D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12" y="1504335"/>
            <a:ext cx="6070549" cy="394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82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96B07-103C-4610-2830-CD462FA2B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73"/>
            <a:ext cx="12191999" cy="706459"/>
          </a:xfrm>
        </p:spPr>
        <p:txBody>
          <a:bodyPr/>
          <a:lstStyle/>
          <a:p>
            <a:pPr algn="ctr"/>
            <a:r>
              <a:rPr lang="en-IN" b="1" dirty="0">
                <a:latin typeface="Footlight MT Light" panose="0204060206030A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38099-68A2-151D-15C5-D302097D6682}"/>
              </a:ext>
            </a:extLst>
          </p:cNvPr>
          <p:cNvSpPr txBox="1"/>
          <p:nvPr/>
        </p:nvSpPr>
        <p:spPr>
          <a:xfrm>
            <a:off x="717901" y="1228397"/>
            <a:ext cx="99992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Skincare leads revenue at ₹242K (42% of total) and order quantity at 2,099 units — prioritize production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Only 23% of items pass inspection and 41% are pending — urgent QC improvement needed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Supplier B is the best performer — lowest cost (₹45/unit) and lowest defect rate (1%)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Supplier C is highest risk — defect rate 3% and highest cost ₹55/unit — review contract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Route A is most profitable at ₹0.25M — expand Route A capacity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27 SKUs at Low Stock — set automated reorder alerts immediately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Rail transport generates highest revenue (₹165K) at lowest cost — most efficient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Supplier 2 has highest manufacturing lead time (343 days) — major supply chain bottleneck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1614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4F51-6929-AF0C-5768-58C9E88F0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921933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en-US" sz="4500" dirty="0">
                <a:latin typeface="Footlight MT Light" panose="0204060206030A020304" pitchFamily="18" charset="0"/>
              </a:rPr>
              <a:t>Thank you</a:t>
            </a:r>
            <a:endParaRPr lang="en-IN" sz="4500" dirty="0"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56026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1093</TotalTime>
  <Words>2089</Words>
  <Application>Microsoft Office PowerPoint</Application>
  <PresentationFormat>Widescreen</PresentationFormat>
  <Paragraphs>176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Anthropic Sans</vt:lpstr>
      <vt:lpstr>Arial</vt:lpstr>
      <vt:lpstr>Calibri</vt:lpstr>
      <vt:lpstr>Century Gothic</vt:lpstr>
      <vt:lpstr>Footlight MT Light</vt:lpstr>
      <vt:lpstr>Wingdings 3</vt:lpstr>
      <vt:lpstr>Slice</vt:lpstr>
      <vt:lpstr>SUPPLY CHAIN ANALYSIS A Complete Diagnostic &amp; Comparison Report</vt:lpstr>
      <vt:lpstr>Project  Objective</vt:lpstr>
      <vt:lpstr>Tools &amp; Techniques Used</vt:lpstr>
      <vt:lpstr>Dashboards: SUPPLY CHAIN Analysis</vt:lpstr>
      <vt:lpstr>PAGE 1 EXECUTIVE OVERVIEW</vt:lpstr>
      <vt:lpstr>Page 2 OPERATIONS &amp; LOGISTICS</vt:lpstr>
      <vt:lpstr>PAGE 3 QUALITY &amp; SUPPLIERS</vt:lpstr>
      <vt:lpstr>Key kpi From dashboard  </vt:lpstr>
      <vt:lpstr>SLICERS (INTERACTIVE FILTERS)</vt:lpstr>
      <vt:lpstr> TOTAL REVENUE BY PRODUCT TYPE</vt:lpstr>
      <vt:lpstr>SALES BY CUSTOMER DEMOGRAPHICS</vt:lpstr>
      <vt:lpstr>REVENUE BY SUPPLIER LOCATION</vt:lpstr>
      <vt:lpstr>ORDER QUANTITY BY PRODUCT TYPE</vt:lpstr>
      <vt:lpstr>AVG AVAILABILITY BY PRODUCT TYPE</vt:lpstr>
      <vt:lpstr>STOCK LEVEL VS LEAD TIME BY SKU</vt:lpstr>
      <vt:lpstr>AVG SHIPPING COST BY CARRIER &amp; PRODUCT </vt:lpstr>
      <vt:lpstr>REVENUE VS TRANSPORT COST BY MODE</vt:lpstr>
      <vt:lpstr>COUNT OF SKU BY STOCK STATUS</vt:lpstr>
      <vt:lpstr>REVENUE BY SHIPPING ROUTE</vt:lpstr>
      <vt:lpstr> AVG SHIPPING TIMES BY CARRIER</vt:lpstr>
      <vt:lpstr>PRODUCTION VOLUME BY PRODUCT TYPE</vt:lpstr>
      <vt:lpstr>DEFECT RATE VS MANUFACTURING COST</vt:lpstr>
      <vt:lpstr> INSPECTION RESULTS DISTRIBUTION</vt:lpstr>
      <vt:lpstr>SUPPLIER PERFORMANCE BENCHMARK</vt:lpstr>
      <vt:lpstr>AVG MANUFACTURING LEAD TIME BY SUPPLIER 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Udhayanithi A</dc:creator>
  <cp:lastModifiedBy>Samiulla Nadaf</cp:lastModifiedBy>
  <cp:revision>7</cp:revision>
  <dcterms:created xsi:type="dcterms:W3CDTF">2026-02-14T05:50:59Z</dcterms:created>
  <dcterms:modified xsi:type="dcterms:W3CDTF">2026-06-16T15:00:16Z</dcterms:modified>
</cp:coreProperties>
</file>